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73" r:id="rId15"/>
    <p:sldId id="261" r:id="rId20"/>
    <p:sldId id="260" r:id="rId19"/>
    <p:sldId id="372" r:id="rId14"/>
    <p:sldId id="371" r:id="rId17"/>
    <p:sldId id="374" r:id="rId18"/>
    <p:sldId id="376" r:id="rId45"/>
    <p:sldId id="263" r:id="rId22"/>
    <p:sldId id="369" r:id="rId13"/>
    <p:sldId id="267" r:id="rId26"/>
    <p:sldId id="377" r:id="rId46"/>
    <p:sldId id="378" r:id="rId24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15.xml"/><Relationship Id="rId14" Type="http://schemas.openxmlformats.org/officeDocument/2006/relationships/slide" Target="slides/slide10.xml"/><Relationship Id="rId15" Type="http://schemas.openxmlformats.org/officeDocument/2006/relationships/slide" Target="slides/slide7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9.xml"/><Relationship Id="rId20" Type="http://schemas.openxmlformats.org/officeDocument/2006/relationships/slide" Target="slides/slide8.xml"/><Relationship Id="rId22" Type="http://schemas.openxmlformats.org/officeDocument/2006/relationships/slide" Target="slides/slide14.xml"/><Relationship Id="rId24" Type="http://schemas.openxmlformats.org/officeDocument/2006/relationships/slide" Target="slides/slide18.xml"/><Relationship Id="rId25" Type="http://schemas.openxmlformats.org/officeDocument/2006/relationships/slide" Target="slides/slide6.xml"/><Relationship Id="rId26" Type="http://schemas.openxmlformats.org/officeDocument/2006/relationships/slide" Target="slides/slide1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3.xml"/><Relationship Id="rId46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Выполнено требований ТЗ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Обязательные (M)</c:v>
                </c:pt>
                <c:pt idx="1">
                  <c:v>Желательные (S)</c:v>
                </c:pt>
                <c:pt idx="2">
                  <c:v>Возможные (C)</c:v>
                </c:pt>
                <c:pt idx="3">
                  <c:v>К сдаче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20</c:v>
                </c:pt>
                <c:pt idx="2">
                  <c:v>6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txPr>
            <a:bodyPr/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sz="4800" b="1"/>
              <a:t>AIskra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sz="1600"/>
              <a:t>Задача № 9 · ДГОЧСиПБ Москвы, ГБУ «Система 112»: ИИ-тренажёр операторов системы-112 и диспетчеров ДДС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40000"/>
            <a:ext cx="4680000" cy="71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Заявитель в стрессе по пособиям ЦЭПП МЧС: 15 профилей, состояние меняется от речи оператора, голос с эмоцией, отдельная оценка по профстандарту 12.002. Работает офлайн, в изолированном контуре.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Алексей Подколзин, DS / ML / AI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 </a:t>
            </a:r>
            <a:r>
              <a:rPr lang="ru-RU" i="0" dirty="0" b="0">
                <a:solidFill>
                  <a:schemeClr val="tx1"/>
                </a:solidFill>
              </a:rPr>
              <a:t>— [уточнить]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работы/учебы участников?</a:t>
            </a:r>
            <a:r>
              <a:rPr lang="ru-RU" i="0" dirty="0" b="0">
                <a:solidFill>
                  <a:schemeClr val="tx1"/>
                </a:solidFill>
              </a:rPr>
              <a:t> — СБЕР, ex-Сбер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b="0" dirty="0" i="0">
                <a:solidFill>
                  <a:schemeClr val="tx1"/>
                </a:solidFill>
              </a:rPr>
              <a:t> [уточнить]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400" b="1">
                <a:solidFill>
                  <a:srgbClr val="520977"/>
                </a:solidFill>
              </a:rPr>
              <a:t>КОМАНДА «АИСКРА»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Учебная среда в точной копии АРМ-112 и АРМ ДДС. ИИ генерирует сценарии вместе с эталоном, играет заявителя и старшего группы, система сама оценивает карточку и работу ДДС, преподаватель ведёт занятия и видит аналитику.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ivnvs-Storage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zhamilka1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Жамиль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Якупов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damirai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Дамир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Хафизов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КОМАНДА «АИСКРА»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DS / ML / AI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GitHub: Fosh1er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ex-Сбер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Подколзин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ИСТОРИЯ КОМАНДЫ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Собрались под ЛЦТ-2026 [уточнить]. Работали по Spec Driven Development: требование ТЗ → спецификация с трассировкой → ADR → код и тесты → зелёные проверки → PR в main.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Изолированный контур без GPU: всё работает и без модели — по правилам, модель только добавляет живую речь. Интерфейс АРМ копировали по скриншотам заказчика, классификатор — 1281 тип.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ИИ-заявитель слишком быстро успокаивался. Вынесли его состояние в детерминированный движок и опёрли правила на пособия ЦЭПП МЧС.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Ошибка оператора 112 стоит минут и жизней, а учебных вызовов нет: вводные пишут вручную. Захотели тренажёр, где ИИ играет живого заявителя, а оценка объективна и опирается на нормативы.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Модульный монолит FastAPI + React, PostgreSQL, docker compose; REST API — 117 операций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ИИ за портами: любая OpenAI-совместимая модель (Ollama, vLLM) или офлайн-режим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карточки и ДДС — правилами из классификатора заказчика, модель пишет только речь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Автооценка по формулам с весами, ИИ-судья, бенчмарк ошибок для проверки достоверности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Заявитель в стрессе: 15 профилей, движок состояния по шкале ECCS, отдельный блок оценки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Голос: Whisper, синтез с эмоцией, разговор без рук</a:t>
            </a:r>
          </a:p>
          <a:p>
            <a:r>
              <a:rPr lang="ru-RU" sz="1400" dirty="0">
                <a:solidFill>
                  <a:schemeClr val="tx1"/>
                </a:solidFill>
              </a:rPr>
              <a:t>376 автотестов, mypy --strict, контроль границ модулей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Учебный центр ГБУ «Система 112»: практика без реальных вызовов и ПДн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Занятие — за 5 минут, отчёт, разбор и черновик отзыва — автоматически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Допуск к дежурству по шкале Программы подготовки ЕДДС, протокол для печати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Тиражирование: ЕДДС районов и другие регионы — меняются только справочники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Дальше: пилот в учебном центре, потоковый голос, поиск по учебным материалам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485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Проблема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По нормативу ПП РФ № 1931 у оператора 112 — 75 секунд, чтобы опросить заявителя в стрессе и заполнить карточку (классификатор — 1281 тип происшествий). У диспетчера ДДС — 30 секунд на решение. Ошибка стоит времени реагирования.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Как сейчас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Вводные пишут вручную, их мало и их запоминают. Карточки проверяют вручную: долго и субъективно. «Неудобного» заявителя играет наставник.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АИскра</a:t>
            </a:r>
            <a:endParaRPr lang="ru-RU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ИИ генерирует сценарии с эталоном и играет заявителя в нужном состоянии. Система сама оценивает работу и копит данные для допуска.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269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ПРОБЛЕМА И РЕШЕНИЕ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ЭМУЛЯТОР АРМ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Копия рабочих мест заказчика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Журнал и карточка 112, опросная карта классификатора, адрес со справочником и картой, автоподбор служб по матрице.</a:t>
            </a:r>
          </a:p>
          <a:p>
            <a:r>
              <a:rPr sz="1300">
                <a:solidFill>
                  <a:srgbClr val="000000"/>
                </a:solidFill>
              </a:rPr>
              <a:t>Входящий учебный вызов: ИИ-заявитель отвечает только тем, что есть в легенде, — текстом или голосом.</a:t>
            </a:r>
          </a:p>
          <a:p>
            <a:r>
              <a:rPr sz="1300">
                <a:solidFill>
                  <a:srgbClr val="000000"/>
                </a:solidFill>
              </a:rPr>
              <a:t>АРМ ДДС: очередь с таймерами, «Принята / Не принята», статусы до «Работы завершены», IP-телефон.</a:t>
            </a:r>
          </a:p>
          <a:p>
            <a:r>
              <a:rPr sz="1300">
                <a:solidFill>
                  <a:srgbClr val="000000"/>
                </a:solidFill>
              </a:rPr>
              <a:t>Подсказки по кнопкам для новичка; таймер стоит, пока он их читает.</a:t>
            </a:r>
          </a:p>
        </p:txBody>
      </p:sp>
      <p:pic>
        <p:nvPicPr>
          <p:cNvPr id="10" name="Picture 9" descr="s07_c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6000" y="1044000"/>
            <a:ext cx="4464000" cy="2790000"/>
          </a:xfrm>
          <a:prstGeom prst="rect">
            <a:avLst/>
          </a:prstGeom>
        </p:spPr>
      </p:pic>
      <p:pic>
        <p:nvPicPr>
          <p:cNvPr id="11" name="Picture 10" descr="s16_dds_jour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6000" y="3941999"/>
            <a:ext cx="4464000" cy="27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47088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sz="1200" b="1">
                <a:solidFill>
                  <a:srgbClr val="000000"/>
                </a:solidFill>
              </a:rPr>
              <a:t>15 профилей по пособиям ЦЭПП МЧС: </a:t>
            </a:r>
            <a:r>
              <a:rPr sz="1200" b="0">
                <a:solidFill>
                  <a:srgbClr val="000000"/>
                </a:solidFill>
              </a:rPr>
              <a:t>паника, плач, истерика, агрессия, ступор, суицидальные высказывания, ребёнок и др.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 b="1">
                <a:solidFill>
                  <a:srgbClr val="000000"/>
                </a:solidFill>
              </a:rPr>
              <a:t>Состояние по шкале ECCS 1–5 </a:t>
            </a:r>
            <a:r>
              <a:rPr sz="1200" b="0">
                <a:solidFill>
                  <a:srgbClr val="000000"/>
                </a:solidFill>
              </a:rPr>
              <a:t>меняется от речи оператора: «Успокойтесь!» — сразу хуже, «я на линии» и повторная настойчивость — лучше. В панике адрес не назвать.</a:t>
            </a:r>
          </a:p>
          <a:p>
            <a:r>
              <a:rPr sz="1200" b="1">
                <a:solidFill>
                  <a:srgbClr val="000000"/>
                </a:solidFill>
              </a:rPr>
              <a:t>Преподаватель </a:t>
            </a:r>
            <a:r>
              <a:rPr sz="1200" b="0">
                <a:solidFill>
                  <a:srgbClr val="000000"/>
                </a:solidFill>
              </a:rPr>
              <a:t>включает модификатор в занятии: доля звонков, профили, интенсивность, вес оценки.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92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ЗАЯВИТЕЛЬ В СТРЕССЕ</a:t>
            </a:r>
            <a:endParaRPr lang="ru-RU" dirty="0"/>
          </a:p>
        </p:txBody>
      </p:sp>
      <p:pic>
        <p:nvPicPr>
          <p:cNvPr id="11" name="Picture 10" descr="psy_02_call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999" y="1080000"/>
            <a:ext cx="4351304" cy="5004000"/>
          </a:xfrm>
          <a:prstGeom prst="rect">
            <a:avLst/>
          </a:prstGeom>
        </p:spPr>
      </p:pic>
      <p:pic>
        <p:nvPicPr>
          <p:cNvPr id="12" name="Picture 11" descr="psy_01_session_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00" y="3384000"/>
            <a:ext cx="6948000" cy="186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940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6724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РАБОТА С ЗАЯВИТЕЛЕМ В СТРЕССЕ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520913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5961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Контакт и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5964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приветствие, обращение по имени, адрес подтверждён повтором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557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6605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Ответ на эмоцию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6605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признал эмоцию и перевёл в действие — в пределах одной реплики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557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96605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Приёмы для состояния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6605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повторная настойчивость, вопрос-выбор, прямой вопрос о суициде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4020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068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Недопустимые действия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9070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«успокойтесь», упрёки, угрозы, вредные советы — критические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4663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712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Решение и исход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712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психолог и скорая, если нужны; уровень ECCS от начала к концу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4663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712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Тон и голос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712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ИИ-судья по 7 вопросам аудиоконтроля; паузы и перебивания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600" y="6192000"/>
            <a:ext cx="10440000" cy="3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Основание: профстандарт 12.002, ТФ C/04.6 — аудиоконтроль адекватности речи оператора состоянию заявителя. Блок считается отдельно от балла 112.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РАЗБОР ЗВОНКА ПО РЕПЛИКАМ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psy_04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75999"/>
            <a:ext cx="7740000" cy="32988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96000" y="1548000"/>
            <a:ext cx="3168000" cy="460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Что видит обучающийся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Каждая реплика: какие приёмы найдены (✓) и какие ошибки (✗) — с объяснением и ссылкой на источник.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Как менялось состояние заявителя: «успокойтесь» — 4 → 5, повторная настойчивость — 5 →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Когда заявитель «не смог сообщить» адрес — и почему.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Формат дебрифинга PEARLS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92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376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ГОЛОС И ЭМОЦИИ</a:t>
            </a:r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520913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Эмоции от тона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13" y="3128740"/>
            <a:ext cx="2284071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Напряжение, доверие и готовность отвечать 0–10 меняются от реплик оператора.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Синтез с эмоцией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7903" y="3134070"/>
            <a:ext cx="233741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Голос роли: заявитель, старший группы, служба. Эмоция — стилем, в контуре — темпом.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6363" y="1766042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Без рук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6363" y="3136604"/>
            <a:ext cx="2268537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Микрофон слушает весь звонок, можно перебить заявителя, эхо отсекается.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Разбор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7534" y="3128739"/>
            <a:ext cx="226355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График напряжения по репликам и слова оператора, которые его изменили.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ПРЕПОДАВАТЕЛЬ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80565" y="1772415"/>
            <a:ext cx="1311031" cy="60114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Банк и занятия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565" y="3128740"/>
            <a:ext cx="296563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Генерация сценариев с эталоном, прогон и утверждение. Занятие: роли, темп, нормативы, модификатор. Мониторинг на плитках.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219" y="1766200"/>
            <a:ext cx="1311031" cy="57294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Отчёт и отзыв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3178" y="3128740"/>
            <a:ext cx="303489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Автооценка по эталону, экспертная правка, тепловая карта, разбор разговора. Отзыв каждому: черновик от ИИ, правка, история.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7959" y="1766042"/>
            <a:ext cx="1311031" cy="57316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Аналитика и допуск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7959" y="3128740"/>
            <a:ext cx="2945464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Норматив / факт по форме 1/112, профиль обучающегося, подбор задания по слабым местам, допуск по шкале ЕДДС.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ОФИЦИАЛЬНЫЕ ИСТОЧНИКИ</a:t>
            </a:r>
            <a:endParaRPr lang="ru-RU" sz="3600" dirty="0">
              <a:solidFill>
                <a:schemeClr val="bg1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000" y="1548000"/>
          <a:ext cx="10944000" cy="403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6480000"/>
              </a:tblGrid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Документ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взяли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ПП РФ № 1931 (ред. 2025)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нормативы: карточка 75 с, решение ДДС 30 с, психологическая поддержка до 30 мин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Профстандарт 12.002 (приказ Минтруда № 681н)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критерии оценки, учёт состояния заявителя, аудиоконтроль C/04.6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ЦЭПП МЧС России: пособия 2012 и 2023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острые стрессовые реакции, приёмы помощи, недопустимые действия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Минздрав «Первая помощь» 2025, приказ № 220н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речевой стандарт: короткие фразы, без «не», без слов-триггеров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Программа подготовки ЕДДС (2023), ГОСТ Р 22.7.01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шкала допуска 90/75/60 %, разбор смены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600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Шкала ECCS IAED; APCO/NENA 1.107.2-2025; NENA-STA-001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уровень заявителя, контроль звонка, повторная настойчивость, вопрос о суициде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2000" y="5724000"/>
            <a:ext cx="10800000" cy="4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Около 100 проверенных источников с выжимками — docs/research. У каждого правила в коде есть ссылка на источник, обучающийся видит её в пояснении ошибки.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ТЗ И НАГРУЗКА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6591637" y="1049727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83 из 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1637" y="1649793"/>
            <a:ext cx="4790314" cy="77960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все требования ТЗ выполнены: обязательные, желательные и возможные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1637" y="2915796"/>
            <a:ext cx="4790314" cy="56351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p95 — 16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1637" y="3515862"/>
            <a:ext cx="4790314" cy="86902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отклик при 100 пользователях и данных за год; норма — до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1637" y="4871732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376 автотестов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1637" y="5471798"/>
            <a:ext cx="4790314" cy="848014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253 карточки в секунду при записи; отчёт по занятию — 4,1 с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Один docker compose: </a:t>
            </a:r>
            <a:r>
              <a:rPr sz="1300" b="0">
                <a:solidFill>
                  <a:srgbClr val="000000"/>
                </a:solidFill>
              </a:rPr>
              <a:t>nginx с TLS, FastAPI, PostgreSQL 16, Ollama — по профилю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Сервер по ТЗ: </a:t>
            </a:r>
            <a:r>
              <a:rPr sz="1300" b="0">
                <a:solidFill>
                  <a:srgbClr val="000000"/>
                </a:solidFill>
              </a:rPr>
              <a:t>6 ядер, 32 ГБ, без GPU; внешние сети не нужны</a:t>
            </a:r>
          </a:p>
          <a:p>
            <a:r>
              <a:rPr sz="1300" b="1">
                <a:solidFill>
                  <a:srgbClr val="000000"/>
                </a:solidFill>
              </a:rPr>
              <a:t>Языковая модель: </a:t>
            </a:r>
            <a:r>
              <a:rPr sz="1300" b="0">
                <a:solidFill>
                  <a:srgbClr val="000000"/>
                </a:solidFill>
              </a:rPr>
              <a:t>любая OpenAI-совместимая — Ollama, vLLM, llama.cpp. Для сервера без GPU рекомендованы Qwen2.5 7B (сценарии, ИИ-судья) и 3B (реплики собеседников)</a:t>
            </a:r>
          </a:p>
          <a:p>
            <a:r>
              <a:rPr sz="1300" b="1">
                <a:solidFill>
                  <a:srgbClr val="000000"/>
                </a:solidFill>
              </a:rPr>
              <a:t>Демо-стенд: </a:t>
            </a:r>
            <a:r>
              <a:rPr sz="1300" b="0">
                <a:solidFill>
                  <a:srgbClr val="000000"/>
                </a:solidFill>
              </a:rPr>
              <a:t>Nemotron-3 Super 120B через OpenRouter — внешний API только по разрешению заказчика</a:t>
            </a:r>
          </a:p>
          <a:p>
            <a:r>
              <a:rPr sz="1300" b="1">
                <a:solidFill>
                  <a:srgbClr val="000000"/>
                </a:solidFill>
              </a:rPr>
              <a:t>Модель говорит, правила решают: </a:t>
            </a:r>
            <a:r>
              <a:rPr sz="1300" b="0">
                <a:solidFill>
                  <a:srgbClr val="000000"/>
                </a:solidFill>
              </a:rPr>
              <a:t>эталон, службы и баллы считают правила; у 9 задач ИИ своя модель, температура и кэш в config/ai.yaml; без модели — офлайн-режим</a:t>
            </a:r>
          </a:p>
          <a:p>
            <a:r>
              <a:rPr sz="1300" b="1">
                <a:solidFill>
                  <a:srgbClr val="000000"/>
                </a:solidFill>
              </a:rPr>
              <a:t>Голос: </a:t>
            </a:r>
            <a:r>
              <a:rPr sz="1300" b="0">
                <a:solidFill>
                  <a:srgbClr val="000000"/>
                </a:solidFill>
              </a:rPr>
              <a:t>Speaches — Whisper и Piper на CPU; на демо — через API</a:t>
            </a:r>
          </a:p>
          <a:p>
            <a:r>
              <a:rPr sz="1300" b="1">
                <a:solidFill>
                  <a:srgbClr val="000000"/>
                </a:solidFill>
              </a:rPr>
              <a:t>Безопасность: </a:t>
            </a:r>
            <a:r>
              <a:rPr sz="1300" b="0">
                <a:solidFill>
                  <a:srgbClr val="000000"/>
                </a:solidFill>
              </a:rPr>
              <a:t>права на каждом запросе, аудит всех значимых действий, 152-ФЗ — только синтетические данные</a:t>
            </a:r>
          </a:p>
          <a:p>
            <a:r>
              <a:rPr sz="1300" b="1">
                <a:solidFill>
                  <a:srgbClr val="000000"/>
                </a:solidFill>
              </a:rPr>
              <a:t>Внедрение: </a:t>
            </a:r>
            <a:r>
              <a:rPr sz="1300" b="0">
                <a:solidFill>
                  <a:srgbClr val="000000"/>
                </a:solidFill>
              </a:rPr>
              <a:t>docker compose up → импорт справочников заказчика → учётки и группы → занятие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АРХИТЕКТУРА И ВНЕДРЕНИЕ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ПЛАН РАЗВИТИЯ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418074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Пилот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занятия в учебном центре, калибровка оценки с экспертами (κ, ICC)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4960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Сценарии из практики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обезличенные разборы реальных вызовов как основа новых сценариев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2862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Потоковый голос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дуплексный канал, потоковые ответы модели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65517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Материалы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поиск по учебным материалам на эмбеддингах, журнал учёта занятий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2401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Тиражирование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ЕДДС районов и другие регионы: меняются только справочники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r>
              <a:rPr sz="1600" b="1">
                <a:solidFill>
                  <a:srgbClr val="000000"/>
                </a:solidFill>
              </a:rPr>
              <a:t>Репозиторий: </a:t>
            </a:r>
            <a:r>
              <a:rPr sz="1600" b="0">
                <a:solidFill>
                  <a:srgbClr val="000000"/>
                </a:solidFill>
              </a:rPr>
              <a:t>github.com/Fosh1er/MCHS_hack_AIskra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 b="1">
                <a:solidFill>
                  <a:srgbClr val="000000"/>
                </a:solidFill>
              </a:rPr>
              <a:t>Пояснительная записка: </a:t>
            </a:r>
            <a:r>
              <a:rPr sz="1600" b="0">
                <a:solidFill>
                  <a:srgbClr val="000000"/>
                </a:solidFill>
              </a:rPr>
              <a:t>docs/delivery/out — DOCX и PDF, 49 страниц</a:t>
            </a:r>
          </a:p>
          <a:p>
            <a:r>
              <a:rPr sz="1600" b="1">
                <a:solidFill>
                  <a:srgbClr val="000000"/>
                </a:solidFill>
              </a:rPr>
              <a:t>Новые возможности: </a:t>
            </a:r>
            <a:r>
              <a:rPr sz="1600" b="0">
                <a:solidFill>
                  <a:srgbClr val="000000"/>
                </a:solidFill>
              </a:rPr>
              <a:t>docs/delivery/Новые_возможности.md</a:t>
            </a:r>
          </a:p>
          <a:p>
            <a:r>
              <a:rPr sz="1600" b="1">
                <a:solidFill>
                  <a:srgbClr val="000000"/>
                </a:solidFill>
              </a:rPr>
              <a:t>Руководства пользователя: </a:t>
            </a:r>
            <a:r>
              <a:rPr sz="1600" b="0">
                <a:solidFill>
                  <a:srgbClr val="000000"/>
                </a:solidFill>
              </a:rPr>
              <a:t>docs/manuals — преподаватель и обучающийся</a:t>
            </a:r>
          </a:p>
          <a:p>
            <a:r>
              <a:rPr sz="1600" b="1">
                <a:solidFill>
                  <a:srgbClr val="000000"/>
                </a:solidFill>
              </a:rPr>
              <a:t>Исследование и источники: </a:t>
            </a:r>
            <a:r>
              <a:rPr sz="1600" b="0">
                <a:solidFill>
                  <a:srgbClr val="000000"/>
                </a:solidFill>
              </a:rPr>
              <a:t>docs/research</a:t>
            </a:r>
          </a:p>
          <a:p>
            <a:r>
              <a:rPr sz="1600" b="1">
                <a:solidFill>
                  <a:srgbClr val="000000"/>
                </a:solidFill>
              </a:rPr>
              <a:t>Скринкаст: </a:t>
            </a:r>
            <a:r>
              <a:rPr sz="1600" b="0">
                <a:solidFill>
                  <a:srgbClr val="000000"/>
                </a:solidFill>
              </a:rPr>
              <a:t>docs/demo/АИскра_скринкаст.mp4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МАТЕРИАЛЫ РЕШЕНИЯ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ПОЧЕМУ АИСКРА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0000" y="1152000"/>
            <a:ext cx="11160000" cy="79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</a:rPr>
              <a:t>Безопасный цифровой полигон: оператор ошибается на тренажёре, а не на реальном вызове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000" y="2160000"/>
            <a:ext cx="27270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999" y="2376000"/>
            <a:ext cx="2367000" cy="79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FF0053"/>
                </a:solidFill>
              </a:rPr>
              <a:t>83/83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3240000"/>
            <a:ext cx="2367000" cy="12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</a:rPr>
              <a:t>требования ТЗ выполнены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67000" y="2160000"/>
            <a:ext cx="27270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47000" y="2376000"/>
            <a:ext cx="2367000" cy="79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FF0053"/>
                </a:solidFill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7000" y="3240000"/>
            <a:ext cx="2367000" cy="12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</a:rPr>
              <a:t>профилей заявителя в стрессе: состояние меняется от слов оператора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0000" y="2160000"/>
            <a:ext cx="27270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0000" y="2376000"/>
            <a:ext cx="2367000" cy="79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FF0053"/>
                </a:solidFill>
              </a:rPr>
              <a:t>376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0000" y="3240000"/>
            <a:ext cx="2367000" cy="12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</a:rPr>
              <a:t>автотестов; отклик p95 — 16 мс при 100 пользователях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53000" y="2160000"/>
            <a:ext cx="27270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33000" y="2376000"/>
            <a:ext cx="2367000" cy="79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FF0053"/>
                </a:solidFill>
              </a:rPr>
              <a:t>1 контур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33000" y="3240000"/>
            <a:ext cx="2367000" cy="12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</a:rPr>
              <a:t>сценарий → звонок → оценка → разбор; офлайн, без GPU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4000" y="4896000"/>
            <a:ext cx="11556000" cy="12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00" y="4896000"/>
            <a:ext cx="11052000" cy="1224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520977"/>
                </a:solidFill>
              </a:rPr>
              <a:t>Следующий шаг: </a:t>
            </a:r>
            <a:r>
              <a:rPr sz="1800" b="0">
                <a:solidFill>
                  <a:srgbClr val="520977"/>
                </a:solidFill>
              </a:rPr>
              <a:t>пилот с преподавателями ГБУ «Система 112» и сверка автооценки с экспертной (κ, ICC)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