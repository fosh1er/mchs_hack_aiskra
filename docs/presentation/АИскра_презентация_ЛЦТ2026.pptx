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79" r:id="rId47"/>
    <p:sldId id="268" r:id="rId25"/>
    <p:sldId id="378" r:id="rId24"/>
    <p:sldId id="380" r:id="rId48"/>
    <p:sldId id="381" r:id="rId49"/>
    <p:sldId id="261" r:id="rId20"/>
    <p:sldId id="260" r:id="rId19"/>
    <p:sldId id="382" r:id="rId50"/>
    <p:sldId id="383" r:id="rId51"/>
    <p:sldId id="372" r:id="rId14"/>
    <p:sldId id="371" r:id="rId17"/>
    <p:sldId id="373" r:id="rId15"/>
    <p:sldId id="374" r:id="rId18"/>
    <p:sldId id="376" r:id="rId45"/>
    <p:sldId id="384" r:id="rId52"/>
    <p:sldId id="263" r:id="rId22"/>
    <p:sldId id="369" r:id="rId13"/>
    <p:sldId id="267" r:id="rId26"/>
    <p:sldId id="377" r:id="rId46"/>
    <p:sldId id="385" r:id="rId53"/>
    <p:sldId id="365" r:id="rId8"/>
    <p:sldId id="366" r:id="rId9"/>
    <p:sldId id="362" r:id="rId10"/>
    <p:sldId id="364" r:id="rId11"/>
    <p:sldId id="375" r:id="rId12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21.xml"/><Relationship Id="rId9" Type="http://schemas.openxmlformats.org/officeDocument/2006/relationships/slide" Target="slides/slide22.xml"/><Relationship Id="rId10" Type="http://schemas.openxmlformats.org/officeDocument/2006/relationships/slide" Target="slides/slide23.xml"/><Relationship Id="rId11" Type="http://schemas.openxmlformats.org/officeDocument/2006/relationships/slide" Target="slides/slide24.xml"/><Relationship Id="rId12" Type="http://schemas.openxmlformats.org/officeDocument/2006/relationships/slide" Target="slides/slide25.xml"/><Relationship Id="rId13" Type="http://schemas.openxmlformats.org/officeDocument/2006/relationships/slide" Target="slides/slide17.xml"/><Relationship Id="rId14" Type="http://schemas.openxmlformats.org/officeDocument/2006/relationships/slide" Target="slides/slide10.xml"/><Relationship Id="rId15" Type="http://schemas.openxmlformats.org/officeDocument/2006/relationships/slide" Target="slides/slide12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7.xml"/><Relationship Id="rId20" Type="http://schemas.openxmlformats.org/officeDocument/2006/relationships/slide" Target="slides/slide6.xml"/><Relationship Id="rId22" Type="http://schemas.openxmlformats.org/officeDocument/2006/relationships/slide" Target="slides/slide16.xml"/><Relationship Id="rId24" Type="http://schemas.openxmlformats.org/officeDocument/2006/relationships/slide" Target="slides/slide3.xml"/><Relationship Id="rId25" Type="http://schemas.openxmlformats.org/officeDocument/2006/relationships/slide" Target="slides/slide2.xml"/><Relationship Id="rId26" Type="http://schemas.openxmlformats.org/officeDocument/2006/relationships/slide" Target="slides/slide18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4.xml"/><Relationship Id="rId46" Type="http://schemas.openxmlformats.org/officeDocument/2006/relationships/slide" Target="slides/slide19.xml"/><Relationship Id="rId47" Type="http://schemas.openxmlformats.org/officeDocument/2006/relationships/slide" Target="slides/slide1.xml"/><Relationship Id="rId48" Type="http://schemas.openxmlformats.org/officeDocument/2006/relationships/slide" Target="slides/slide4.xml"/><Relationship Id="rId49" Type="http://schemas.openxmlformats.org/officeDocument/2006/relationships/slide" Target="slides/slide5.xml"/><Relationship Id="rId50" Type="http://schemas.openxmlformats.org/officeDocument/2006/relationships/slide" Target="slides/slide8.xml"/><Relationship Id="rId51" Type="http://schemas.openxmlformats.org/officeDocument/2006/relationships/slide" Target="slides/slide9.xml"/><Relationship Id="rId52" Type="http://schemas.openxmlformats.org/officeDocument/2006/relationships/slide" Target="slides/slide15.xml"/><Relationship Id="rId53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Выполнено требований ТЗ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Обязательные (M)</c:v>
                </c:pt>
                <c:pt idx="1">
                  <c:v>Желательные (S)</c:v>
                </c:pt>
                <c:pt idx="2">
                  <c:v>Возможные (C)</c:v>
                </c:pt>
                <c:pt idx="3">
                  <c:v>К сдаче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20</c:v>
                </c:pt>
                <c:pt idx="2">
                  <c:v>6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sz="4800" b="1"/>
              <a:t>AIskra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sz="1600"/>
              <a:t>ИИ-полигон оператора 112 и диспетчера ДДС: ошибаться — на тренажёре, а не на реальном вызове · финал ЛЦТ-2026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540000"/>
            <a:ext cx="4680000" cy="71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4856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000000"/>
                </a:solidFill>
              </a:rPr>
              <a:t>Проблема</a:t>
            </a:r>
            <a:endParaRPr lang="ru-RU" dirty="0">
              <a:solidFill>
                <a:schemeClr val="tx1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По нормативу ПП РФ № 1931 у оператора 112 — 75 секунд, чтобы опросить заявителя в стрессе и заполнить карточку (классификатор — 1281 тип происшествий). У диспетчера ДДС — 30 секунд на решение. Ошибка стоит времени реагирования.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000000"/>
                </a:solidFill>
              </a:rPr>
              <a:t>Как сейчас</a:t>
            </a:r>
            <a:endParaRPr lang="ru-RU" dirty="0">
              <a:solidFill>
                <a:schemeClr val="tx1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Вводные пишут вручную, их мало и их запоминают. Карточки проверяют вручную: долго и субъективно. «Неудобного» заявителя играет наставник.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000000"/>
                </a:solidFill>
              </a:rPr>
              <a:t>АИскра</a:t>
            </a:r>
            <a:endParaRPr lang="ru-RU">
              <a:solidFill>
                <a:schemeClr val="tx1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ИИ генерирует сценарии с эталоном и играет заявителя в нужном состоянии. Система сама оценивает работу и копит данные для допуска.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4269600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ПРОБЛЕМА И РЕШЕНИЕ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ДЕМО ЗА 30 СЕКУНД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2" name="Picture 21" descr="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59" y="1116000"/>
            <a:ext cx="9360000" cy="526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69408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6724800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ЧТО НОВОГО В ФИНАЛЕ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520913" y="1394052"/>
            <a:ext cx="771003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5961" y="1428777"/>
            <a:ext cx="3866856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ИИ в реальном времени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5964" y="1996388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ответ печатается на глазах, голос — с первой фразы; видно модель и скорость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557" y="2998036"/>
            <a:ext cx="771003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6605" y="3032761"/>
            <a:ext cx="3866856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Вход одной кнопкой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6605" y="3580500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эксперт входит в любую роль без пароля; в боевом контуре такого входа нет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557" y="4582148"/>
            <a:ext cx="771003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6605" y="4616873"/>
            <a:ext cx="3866856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Модели под задачу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6605" y="5164612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Qwen 3.8 Flash — реплики, GPT-4o — сценарии и судья; голос и речь с резервом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4020" y="1394052"/>
            <a:ext cx="771003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068" y="1428777"/>
            <a:ext cx="3866856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Психология на первом плане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9070" y="1996388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шкала ECCS в звонке, страница «Методика», источник у каждого критерия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4663" y="2998036"/>
            <a:ext cx="771003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712" y="3032761"/>
            <a:ext cx="3866856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Ветвящиеся сценарии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712" y="3580500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решения оператора меняют развитие ситуации и её итог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4663" y="4582148"/>
            <a:ext cx="771003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712" y="4616873"/>
            <a:ext cx="3866856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Готово к эксплуатации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712" y="5164612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CI, e2e по всем ролям, нагрузка на PostgreSQL, режим prod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600" y="6192000"/>
            <a:ext cx="10440000" cy="360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5560"/>
                </a:solidFill>
              </a:rPr>
              <a:t>Всё в main и проходит CI. Спецификации — docs/brief/07_Бэклог_финала_техспека.md и specs/F1–F6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47088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000" y="1044000"/>
            <a:ext cx="6803999" cy="5256000"/>
          </a:xfrm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r>
              <a:rPr sz="1200" b="1">
                <a:solidFill>
                  <a:srgbClr val="000000"/>
                </a:solidFill>
              </a:rPr>
              <a:t>Поток ответа. </a:t>
            </a:r>
            <a:r>
              <a:rPr sz="1200" b="0">
                <a:solidFill>
                  <a:srgbClr val="000000"/>
                </a:solidFill>
              </a:rPr>
              <a:t>Реплика заявителя печатается по мере генерации, голос звучит с первой фразы, пока модель дописывает остальное.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Честные метрики. </a:t>
            </a:r>
            <a:r>
              <a:rPr sz="1200" b="0">
                <a:solidFill>
                  <a:srgbClr val="000000"/>
                </a:solidFill>
              </a:rPr>
              <a:t>Под ответом — модель, время до первого слова и скорость. Без модели — «ответ по правилам», без имитации.</a:t>
            </a:r>
          </a:p>
          <a:p>
            <a:r>
              <a:rPr sz="1200" b="1">
                <a:solidFill>
                  <a:srgbClr val="000000"/>
                </a:solidFill>
              </a:rPr>
              <a:t>Состояние до ответа. </a:t>
            </a:r>
            <a:r>
              <a:rPr sz="1200" b="0">
                <a:solidFill>
                  <a:srgbClr val="000000"/>
                </a:solidFill>
              </a:rPr>
              <a:t>Шкала ECCS и причина изменения появляются сразу, как оператор договорил.</a:t>
            </a:r>
          </a:p>
          <a:p>
            <a:r>
              <a:rPr sz="1200" b="1">
                <a:solidFill>
                  <a:srgbClr val="000000"/>
                </a:solidFill>
              </a:rPr>
              <a:t>Проверка. </a:t>
            </a:r>
            <a:r>
              <a:rPr sz="1200" b="0">
                <a:solidFill>
                  <a:srgbClr val="000000"/>
                </a:solidFill>
              </a:rPr>
              <a:t>Ответ модели сверяется с профилем; не прошёл — плавно заменяется ответом по правилам.</a:t>
            </a:r>
          </a:p>
          <a:p>
            <a:r>
              <a:rPr sz="1200" b="1">
                <a:solidFill>
                  <a:srgbClr val="000000"/>
                </a:solidFill>
              </a:rPr>
              <a:t>Перебивание. </a:t>
            </a:r>
            <a:r>
              <a:rPr sz="1200" b="0">
                <a:solidFill>
                  <a:srgbClr val="000000"/>
                </a:solidFill>
              </a:rPr>
              <a:t>Оператор заговорил — голос и генерация останавливаются.</a:t>
            </a: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4492800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ИИ ОТВЕЧАЕТ ВЖИВУЮ</a:t>
            </a:r>
            <a:endParaRPr lang="ru-RU" dirty="0"/>
          </a:p>
        </p:txBody>
      </p:sp>
      <p:pic>
        <p:nvPicPr>
          <p:cNvPr id="11" name="Picture 10" descr="f1_st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999" y="1080000"/>
            <a:ext cx="4351304" cy="50039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23999" y="6120000"/>
            <a:ext cx="435130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6B6B7B"/>
                </a:solidFill>
              </a:rPr>
              <a:t>снимок со стенда на тестовой модели — время и скорость на демонстрации зависят от модели</a:t>
            </a:r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47088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r>
              <a:rPr sz="1200" b="1">
                <a:solidFill>
                  <a:srgbClr val="000000"/>
                </a:solidFill>
              </a:rPr>
              <a:t>15 профилей по пособиям ЦЭПП МЧС: </a:t>
            </a:r>
            <a:r>
              <a:rPr sz="1200" b="0">
                <a:solidFill>
                  <a:srgbClr val="000000"/>
                </a:solidFill>
              </a:rPr>
              <a:t>паника, плач, истерика, агрессия, ступор, суицидальные высказывания, ребёнок и др.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Состояние по шкале ECCS 1–5 </a:t>
            </a:r>
            <a:r>
              <a:rPr sz="1200" b="0">
                <a:solidFill>
                  <a:srgbClr val="000000"/>
                </a:solidFill>
              </a:rPr>
              <a:t>меняется от речи оператора: «Успокойтесь!» — сразу хуже, «я на линии» и повторная настойчивость — лучше. В панике адрес не назвать.</a:t>
            </a:r>
          </a:p>
          <a:p>
            <a:r>
              <a:rPr sz="1200" b="1">
                <a:solidFill>
                  <a:srgbClr val="000000"/>
                </a:solidFill>
              </a:rPr>
              <a:t>Преподаватель </a:t>
            </a:r>
            <a:r>
              <a:rPr sz="1200" b="0">
                <a:solidFill>
                  <a:srgbClr val="000000"/>
                </a:solidFill>
              </a:rPr>
              <a:t>включает модификатор в занятии: доля звонков, профили, интенсивность, вес оценки.</a:t>
            </a: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4492800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ЗАЯВИТЕЛЬ В СТРЕССЕ</a:t>
            </a:r>
            <a:endParaRPr lang="ru-RU" dirty="0"/>
          </a:p>
        </p:txBody>
      </p:sp>
      <p:pic>
        <p:nvPicPr>
          <p:cNvPr id="11" name="Picture 10" descr="psy_02_call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999" y="1080000"/>
            <a:ext cx="4351304" cy="5004000"/>
          </a:xfrm>
          <a:prstGeom prst="rect">
            <a:avLst/>
          </a:prstGeom>
        </p:spPr>
      </p:pic>
      <p:pic>
        <p:nvPicPr>
          <p:cNvPr id="12" name="Picture 11" descr="psy_01_session_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00" y="3384000"/>
            <a:ext cx="6948000" cy="186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69408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6724800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РАБОТА С ЗАЯВИТЕЛЕМ В СТРЕССЕ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520913" y="1394052"/>
            <a:ext cx="771003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5961" y="1428777"/>
            <a:ext cx="3866856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Контакт и данные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5964" y="1996388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приветствие, обращение по имени, адрес подтверждён повтором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557" y="2998036"/>
            <a:ext cx="771003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6605" y="3032761"/>
            <a:ext cx="3866856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Ответ на эмоцию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6605" y="3580500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признал эмоцию и перевёл в действие — в пределах одной реплики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557" y="4582148"/>
            <a:ext cx="771003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6605" y="4616873"/>
            <a:ext cx="3866856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Приёмы для состояния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6605" y="5164612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повторная настойчивость, вопрос-выбор, прямой вопрос о суициде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4020" y="1394052"/>
            <a:ext cx="771003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9068" y="1428777"/>
            <a:ext cx="3866856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Недопустимые действия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9070" y="1996388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«успокойтесь», упрёки, угрозы, вредные советы — критические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4663" y="2998036"/>
            <a:ext cx="771003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712" y="3032761"/>
            <a:ext cx="3866856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Решение и исход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712" y="3580500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психолог и скорая, если нужны; уровень ECCS от начала к концу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4663" y="4582148"/>
            <a:ext cx="771003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712" y="4616873"/>
            <a:ext cx="3866856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Тон и голос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712" y="5164612"/>
            <a:ext cx="3866856" cy="67207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ИИ-судья по 7 вопросам аудиоконтроля; паузы и перебивания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600" y="6192000"/>
            <a:ext cx="10440000" cy="360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5560"/>
                </a:solidFill>
              </a:rPr>
              <a:t>Основание: профстандарт 12.002, ТФ C/04.6 — аудиоконтроль адекватности речи оператора состоянию заявителя. Блок считается отдельно от балла 112.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МЕТОДИКА — В ИНТЕРФЕЙСЕ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96000" y="1548000"/>
            <a:ext cx="3168000" cy="460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</a:rPr>
              <a:t>Видят преподаватель и обучающийся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</a:rPr>
              <a:t>15 состояний заявителя: признаки, что делать, что нельзя, как звучит на каждом уровне ECCS.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</a:rPr>
              <a:t>Научно-методическая основа: ЦЭПП МЧС, профстандарт 12.002, ПП РФ № 1931, ECCS, APCO/NENA — 36 источников со ссылками.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</a:rPr>
              <a:t>У каждого критерия оценки — «почему это важно» и ссылка на первоисточник.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</a:rPr>
              <a:t>В отчёте занятия — топ-5 типичных ошибок группы при работе со стрессом.</a:t>
            </a:r>
          </a:p>
        </p:txBody>
      </p:sp>
      <p:pic>
        <p:nvPicPr>
          <p:cNvPr id="24" name="Picture 23" descr="f4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" y="2322645"/>
            <a:ext cx="7740000" cy="286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 sz="2000" b="1">
                <a:solidFill>
                  <a:srgbClr val="520977"/>
                </a:solidFill>
              </a:rPr>
              <a:t>СИТУАЦИЯ РАЗВИВАЕТСЯ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r>
              <a:rPr sz="1300" b="1">
                <a:solidFill>
                  <a:srgbClr val="000000"/>
                </a:solidFill>
              </a:rPr>
              <a:t>Ветвящиеся сценарии</a:t>
            </a:r>
            <a:endParaRPr lang="ru-RU" dirty="0">
              <a:solidFill>
                <a:schemeClr val="tx1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Пока едет помощь, ситуация меняется — и итог зависит от решений оператора.</a:t>
            </a:r>
          </a:p>
          <a:p>
            <a:r>
              <a:rPr sz="1300">
                <a:solidFill>
                  <a:srgbClr val="000000"/>
                </a:solidFill>
              </a:rPr>
              <a:t>Быстро отправил карточку пожарной охране — пожар потушен в квартире. Опоздал — огонь перекинулся на соседнюю.</a:t>
            </a:r>
          </a:p>
          <a:p>
            <a:r>
              <a:rPr sz="1300">
                <a:solidFill>
                  <a:srgbClr val="000000"/>
                </a:solidFill>
              </a:rPr>
              <a:t>Вредный совет «откройте окно» — выход отрезан дымом; верная инструкция «закройте щели мокрой тканью» — люди дождались пожарных.</a:t>
            </a:r>
          </a:p>
          <a:p>
            <a:r>
              <a:rPr sz="1300">
                <a:solidFill>
                  <a:srgbClr val="000000"/>
                </a:solidFill>
              </a:rPr>
              <a:t>4 шаблона: пожар, остановка сердца, запах газа, ДТП. Пороги и инструкции — из официальных памяток, у каждого перехода источник.</a:t>
            </a:r>
          </a:p>
          <a:p>
            <a:r>
              <a:rPr sz="1300">
                <a:solidFill>
                  <a:srgbClr val="000000"/>
                </a:solidFill>
              </a:rPr>
              <a:t>Итог и путь по развилкам — в разборе звонка и отчёте занятия; вес в оценке задаёт преподаватель.</a:t>
            </a:r>
          </a:p>
        </p:txBody>
      </p:sp>
      <p:pic>
        <p:nvPicPr>
          <p:cNvPr id="10" name="Picture 9" descr="f5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153" y="1080000"/>
            <a:ext cx="2187692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РАЗБОР ЗВОНКА ПО РЕПЛИКАМ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22" name="Picture 21" descr="psy_04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75999"/>
            <a:ext cx="7740000" cy="32988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96000" y="1548000"/>
            <a:ext cx="3168000" cy="460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</a:rPr>
              <a:t>Что видит обучающийся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</a:rPr>
              <a:t>Каждая реплика: какие приёмы найдены (✓) и какие ошибки (✗) — с объяснением и ссылкой на источник.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</a:rPr>
              <a:t>Как менялось состояние заявителя: «успокойтесь» — 4 → 5, повторная настойчивость — 5 → 4.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</a:rPr>
              <a:t>Когда заявитель «не смог сообщить» адрес — и почему.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</a:rPr>
              <a:t>Формат дебрифинга PEARLS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5928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376800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ГОЛОС И ЭМОЦИИ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520913" y="1772416"/>
            <a:ext cx="771003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913" y="2339783"/>
            <a:ext cx="2284071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Эмоции от тона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913" y="3128740"/>
            <a:ext cx="2284071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Напряжение, доверие и готовность отвечать 0–10 меняются от реплик оператора.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9944" y="1766200"/>
            <a:ext cx="771003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7903" y="2373557"/>
            <a:ext cx="2337416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Синтез с эмоцией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7903" y="3134070"/>
            <a:ext cx="2337416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Gemini 3.8 Flash TTS: голос роли, эмоция — стилем; резерв — MAI Voice. В контуре — Piper на CPU.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6363" y="1766042"/>
            <a:ext cx="771003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6363" y="2379657"/>
            <a:ext cx="2268537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Без рук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6363" y="3136604"/>
            <a:ext cx="2268537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Микрофон слушает весь звонок, речь — Qwen3-ASR (резерв Whisper), можно перебить, эхо отсекается.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7534" y="1772416"/>
            <a:ext cx="771003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7534" y="2339783"/>
            <a:ext cx="2263553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Разбор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7534" y="3128739"/>
            <a:ext cx="2263553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График напряжения по репликам и слова оператора, которые его изменили.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 sz="2000" b="1">
                <a:solidFill>
                  <a:srgbClr val="520977"/>
                </a:solidFill>
              </a:rPr>
              <a:t>ЭМУЛЯТОР АРМ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r>
              <a:rPr sz="1300" b="1">
                <a:solidFill>
                  <a:srgbClr val="000000"/>
                </a:solidFill>
              </a:rPr>
              <a:t>Копия рабочих мест заказчика</a:t>
            </a:r>
            <a:endParaRPr lang="ru-RU" dirty="0">
              <a:solidFill>
                <a:schemeClr val="tx1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Журнал и карточка 112, опросная карта классификатора, адрес со справочником и картой, автоподбор служб по матрице.</a:t>
            </a:r>
          </a:p>
          <a:p>
            <a:r>
              <a:rPr sz="1300">
                <a:solidFill>
                  <a:srgbClr val="000000"/>
                </a:solidFill>
              </a:rPr>
              <a:t>Входящий учебный вызов: ИИ-заявитель отвечает только тем, что есть в легенде, — текстом или голосом.</a:t>
            </a:r>
          </a:p>
          <a:p>
            <a:r>
              <a:rPr sz="1300">
                <a:solidFill>
                  <a:srgbClr val="000000"/>
                </a:solidFill>
              </a:rPr>
              <a:t>АРМ ДДС: очередь с таймерами, «Принята / Не принята», статусы до «Работы завершены», IP-телефон.</a:t>
            </a:r>
          </a:p>
          <a:p>
            <a:r>
              <a:rPr sz="1300">
                <a:solidFill>
                  <a:srgbClr val="000000"/>
                </a:solidFill>
              </a:rPr>
              <a:t>Подсказки по кнопкам для новичка; таймер стоит, пока он их читает.</a:t>
            </a:r>
          </a:p>
        </p:txBody>
      </p:sp>
      <p:pic>
        <p:nvPicPr>
          <p:cNvPr id="10" name="Picture 9" descr="s07_ca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000" y="1044000"/>
            <a:ext cx="4464000" cy="2790000"/>
          </a:xfrm>
          <a:prstGeom prst="rect">
            <a:avLst/>
          </a:prstGeom>
        </p:spPr>
      </p:pic>
      <p:pic>
        <p:nvPicPr>
          <p:cNvPr id="11" name="Picture 10" descr="s16_dds_journa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6000" y="3941999"/>
            <a:ext cx="4464000" cy="27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sz="2000" b="1">
                <a:solidFill>
                  <a:srgbClr val="520977"/>
                </a:solidFill>
              </a:rPr>
              <a:t>ПРЕПОДАВАТЕЛЬ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0565" y="1772415"/>
            <a:ext cx="1311031" cy="601141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565" y="2493074"/>
            <a:ext cx="2965634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520977"/>
                </a:solidFill>
              </a:rPr>
              <a:t>Банк и занятия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565" y="3128740"/>
            <a:ext cx="2965633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Генерация сценариев с эталоном, прогон и утверждение. Занятие: роли, темп, нормативы, модификатор. Мониторинг на плитках.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5219" y="1766200"/>
            <a:ext cx="1311031" cy="572942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3178" y="2493074"/>
            <a:ext cx="3034896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520977"/>
                </a:solidFill>
              </a:rPr>
              <a:t>Отчёт и отзыв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3178" y="3128740"/>
            <a:ext cx="3034896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Автооценка по эталону, экспертная правка, тепловая карта, разбор разговора. Отзыв каждому: черновик от ИИ, правка, история.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7959" y="1766042"/>
            <a:ext cx="1311031" cy="573165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7959" y="2493074"/>
            <a:ext cx="2945464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520977"/>
                </a:solidFill>
              </a:rPr>
              <a:t>Аналитика и допуск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7959" y="3128740"/>
            <a:ext cx="2945464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Норматив / факт по форме 1/112, профиль обучающегося, подбор задания по слабым местам, допуск по шкале ЕДДС.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ОФИЦИАЛЬНЫЕ ИСТОЧНИКИ</a:t>
            </a:r>
            <a:endParaRPr lang="ru-RU" sz="3600" dirty="0">
              <a:solidFill>
                <a:schemeClr val="bg1"/>
              </a:solidFill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12000" y="1548000"/>
          <a:ext cx="10944000" cy="403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/>
                <a:gridCol w="6480000"/>
              </a:tblGrid>
              <a:tr h="575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Документ</a:t>
                      </a:r>
                    </a:p>
                  </a:txBody>
                  <a:tcPr marL="72000" marR="72000">
                    <a:solidFill>
                      <a:srgbClr val="5209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Что взяли</a:t>
                      </a:r>
                    </a:p>
                  </a:txBody>
                  <a:tcPr marL="72000" marR="72000">
                    <a:solidFill>
                      <a:srgbClr val="520977"/>
                    </a:solidFill>
                  </a:tcPr>
                </a:tc>
              </a:tr>
              <a:tr h="575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ПП РФ № 1931 (ред. 2025)</a:t>
                      </a:r>
                    </a:p>
                  </a:txBody>
                  <a:tcPr marL="72000" marR="72000">
                    <a:solidFill>
                      <a:srgbClr val="F3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нормативы: карточка 75 с, решение ДДС 30 с, психологическая поддержка до 30 мин</a:t>
                      </a:r>
                    </a:p>
                  </a:txBody>
                  <a:tcPr marL="72000" marR="72000">
                    <a:solidFill>
                      <a:srgbClr val="F3ECF7"/>
                    </a:solidFill>
                  </a:tcPr>
                </a:tc>
              </a:tr>
              <a:tr h="575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Профстандарт 12.002 (приказ Минтруда № 681н)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критерии оценки, учёт состояния заявителя, аудиоконтроль C/04.6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575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ЦЭПП МЧС России: пособия 2012 и 2023</a:t>
                      </a:r>
                    </a:p>
                  </a:txBody>
                  <a:tcPr marL="72000" marR="72000">
                    <a:solidFill>
                      <a:srgbClr val="F3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острые стрессовые реакции, приёмы помощи, недопустимые действия</a:t>
                      </a:r>
                    </a:p>
                  </a:txBody>
                  <a:tcPr marL="72000" marR="72000">
                    <a:solidFill>
                      <a:srgbClr val="F3ECF7"/>
                    </a:solidFill>
                  </a:tcPr>
                </a:tc>
              </a:tr>
              <a:tr h="575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Минздрав «Первая помощь» 2025, приказ № 220н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речевой стандарт: короткие фразы, без «не», без слов-триггеров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  <a:tr h="57599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Программа подготовки ЕДДС (2023), ГОСТ Р 22.7.01</a:t>
                      </a:r>
                    </a:p>
                  </a:txBody>
                  <a:tcPr marL="72000" marR="72000">
                    <a:solidFill>
                      <a:srgbClr val="F3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шкала допуска 90/75/60 %, разбор смены</a:t>
                      </a:r>
                    </a:p>
                  </a:txBody>
                  <a:tcPr marL="72000" marR="72000">
                    <a:solidFill>
                      <a:srgbClr val="F3ECF7"/>
                    </a:solidFill>
                  </a:tcPr>
                </a:tc>
              </a:tr>
              <a:tr h="5760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Шкала ECCS IAED; APCO/NENA 1.107.2-2025; NENA-STA-001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уровень заявителя, контроль звонка, повторная настойчивость, вопрос о суициде</a:t>
                      </a:r>
                    </a:p>
                  </a:txBody>
                  <a:tcPr marL="72000" marR="72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2000" y="5724000"/>
            <a:ext cx="10800000" cy="4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55560"/>
                </a:solidFill>
              </a:rPr>
              <a:t>Около 100 проверенных источников с выжимками — docs/research. У каждого правила в коде есть ссылка на источник, обучающийся видит её в пояснении ошибки.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540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5184000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ГОТОВО К ЭКСПЛУАТАЦИИ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520913" y="1772416"/>
            <a:ext cx="771003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913" y="2339783"/>
            <a:ext cx="2284071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CI на каждое изменение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913" y="3128740"/>
            <a:ext cx="2284071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Тесты, линтеры, типы; сборка docker с PostgreSQL и nginx с нуля; смоук в Chrome и Firefox.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9944" y="1766200"/>
            <a:ext cx="771003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7903" y="2373557"/>
            <a:ext cx="2337416" cy="403756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e2e по всем ролям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7903" y="3134070"/>
            <a:ext cx="2337416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10 сценариев через интерфейс: оператор, ДДС, преподаватель, администратор, полигон, отказы модели и сети.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6363" y="1766042"/>
            <a:ext cx="771003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6363" y="2379657"/>
            <a:ext cx="2268537" cy="403913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Нагрузка на PostgreSQL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6363" y="3136604"/>
            <a:ext cx="2268537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100 пользователей: p95 — 117 мс при норме 2 с, 218 карточек/с, ошибок 5xx — 0.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7534" y="1772416"/>
            <a:ext cx="771003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0053"/>
                </a:solidFill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7534" y="2339783"/>
            <a:ext cx="2263553" cy="4236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20977"/>
                </a:solidFill>
              </a:rPr>
              <a:t>Режим prod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7534" y="3128739"/>
            <a:ext cx="2263553" cy="2797928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Не стартует со слабыми паролями и без TLS; демо-вход и Swagger закрыты. Найдено и исправлено 15 ошибок.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3696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153600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ТЗ И НАГРУЗКА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6591637" y="1049727"/>
            <a:ext cx="4790314" cy="59781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0053"/>
                </a:solidFill>
              </a:rPr>
              <a:t>83 из 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637" y="1649793"/>
            <a:ext cx="4790314" cy="779602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все требования ТЗ выполнены: обязательные, желательные и возможные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637" y="2915796"/>
            <a:ext cx="4790314" cy="563519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0053"/>
                </a:solidFill>
              </a:rPr>
              <a:t>p95 — 117 мс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637" y="3515862"/>
            <a:ext cx="4790314" cy="869021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100 пользователей на PostgreSQL, данные за год; норма — до 2 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637" y="4871732"/>
            <a:ext cx="4790314" cy="59781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0053"/>
                </a:solidFill>
              </a:rPr>
              <a:t>548 тестов + 10 e2e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1637" y="5471798"/>
            <a:ext cx="4790314" cy="848014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</a:rPr>
              <a:t>218 карточек в секунду при записи; отчёт по занятию — 4,5 с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r>
              <a:rPr sz="1300" b="1">
                <a:solidFill>
                  <a:srgbClr val="000000"/>
                </a:solidFill>
              </a:rPr>
              <a:t>Один docker compose: </a:t>
            </a:r>
            <a:r>
              <a:rPr sz="1300" b="0">
                <a:solidFill>
                  <a:srgbClr val="000000"/>
                </a:solidFill>
              </a:rPr>
              <a:t>nginx с TLS, FastAPI, PostgreSQL 16, Ollama — по профилю</a:t>
            </a:r>
            <a:endParaRPr lang="ru-RU" dirty="0">
              <a:solidFill>
                <a:schemeClr val="tx1"/>
              </a:solidFill>
            </a:endParaRPr>
          </a:p>
          <a:p>
            <a:r>
              <a:rPr sz="1300" b="1">
                <a:solidFill>
                  <a:srgbClr val="000000"/>
                </a:solidFill>
              </a:rPr>
              <a:t>Сервер по ТЗ: </a:t>
            </a:r>
            <a:r>
              <a:rPr sz="1300" b="0">
                <a:solidFill>
                  <a:srgbClr val="000000"/>
                </a:solidFill>
              </a:rPr>
              <a:t>6 ядер, 32 ГБ, без GPU; внешние сети не нужны</a:t>
            </a:r>
          </a:p>
          <a:p>
            <a:r>
              <a:rPr sz="1300" b="1">
                <a:solidFill>
                  <a:srgbClr val="000000"/>
                </a:solidFill>
              </a:rPr>
              <a:t>Модели на демо: </a:t>
            </a:r>
            <a:r>
              <a:rPr sz="1300" b="0">
                <a:solidFill>
                  <a:srgbClr val="000000"/>
                </a:solidFill>
              </a:rPr>
              <a:t>реплики — Qwen 3.8 Flash, сценарии и ИИ-судья — GPT-4o; голос — Gemini 3.8 Flash TTS (резерв MAI Voice), речь — Qwen3-ASR (резерв Whisper)</a:t>
            </a:r>
          </a:p>
          <a:p>
            <a:r>
              <a:rPr sz="1300" b="1">
                <a:solidFill>
                  <a:srgbClr val="000000"/>
                </a:solidFill>
              </a:rPr>
              <a:t>В контуре заказчика: </a:t>
            </a:r>
            <a:r>
              <a:rPr sz="1300" b="0">
                <a:solidFill>
                  <a:srgbClr val="000000"/>
                </a:solidFill>
              </a:rPr>
              <a:t>любая OpenAI-совместимая модель — Ollama, vLLM, llama.cpp; без модели — офлайн-режим</a:t>
            </a:r>
          </a:p>
          <a:p>
            <a:r>
              <a:rPr sz="1300" b="1">
                <a:solidFill>
                  <a:srgbClr val="000000"/>
                </a:solidFill>
              </a:rPr>
              <a:t>Модель говорит, правила решают: </a:t>
            </a:r>
            <a:r>
              <a:rPr sz="1300" b="0">
                <a:solidFill>
                  <a:srgbClr val="000000"/>
                </a:solidFill>
              </a:rPr>
              <a:t>эталон, службы и баллы считают правила; ответ модели — потоком, с проверкой по профилю</a:t>
            </a:r>
          </a:p>
          <a:p>
            <a:r>
              <a:rPr sz="1300" b="1">
                <a:solidFill>
                  <a:srgbClr val="000000"/>
                </a:solidFill>
              </a:rPr>
              <a:t>Режимы prod / demo: </a:t>
            </a:r>
            <a:r>
              <a:rPr sz="1300" b="0">
                <a:solidFill>
                  <a:srgbClr val="000000"/>
                </a:solidFill>
              </a:rPr>
              <a:t>в prod — проверка настроек при запуске, без демо-входа; права и аудит на каждом запросе</a:t>
            </a:r>
          </a:p>
          <a:p>
            <a:r>
              <a:rPr sz="1300" b="1">
                <a:solidFill>
                  <a:srgbClr val="000000"/>
                </a:solidFill>
              </a:rPr>
              <a:t>Внедрение: </a:t>
            </a:r>
            <a:r>
              <a:rPr sz="1300" b="0">
                <a:solidFill>
                  <a:srgbClr val="000000"/>
                </a:solidFill>
              </a:rPr>
              <a:t>docker compose up → импорт справочников заказчика → учётки и группы → занятие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sz="2000" b="1">
                <a:solidFill>
                  <a:srgbClr val="520977"/>
                </a:solidFill>
              </a:rPr>
              <a:t>АРХИТЕКТУРА И ВНЕДРЕНИЕ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3696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153600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ПЛАН РАЗВИТИЯ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418074" y="1494074"/>
            <a:ext cx="2418079" cy="13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20977"/>
                </a:solidFill>
              </a:rPr>
              <a:t>Пилот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20977"/>
                </a:solidFill>
              </a:rPr>
              <a:t>занятия в учебном центре, калибровка оценки с экспертами (κ, ICC)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4960" y="1494074"/>
            <a:ext cx="2418079" cy="13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20977"/>
                </a:solidFill>
              </a:rPr>
              <a:t>Редактор сценариев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20977"/>
                </a:solidFill>
              </a:rPr>
              <a:t>преподаватель правит граф ветвления; сценарии из обезличенных реальных вызовов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2862" y="1494074"/>
            <a:ext cx="2418079" cy="13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20977"/>
                </a:solidFill>
              </a:rPr>
              <a:t>Дуплексный голос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20977"/>
                </a:solidFill>
              </a:rPr>
              <a:t>оператор и заявитель говорят одновременно, синтез идёт вслед за токенами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65517" y="4861338"/>
            <a:ext cx="2418079" cy="13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20977"/>
                </a:solidFill>
              </a:rPr>
              <a:t>Материалы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20977"/>
                </a:solidFill>
              </a:rPr>
              <a:t>поиск по учебным материалам на эмбеддингах, журнал учёта занятий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52401" y="4861338"/>
            <a:ext cx="2418079" cy="1368000"/>
          </a:xfrm>
          <a:prstGeom prst="rect">
            <a:avLst/>
          </a:prstGeom>
          <a:noFill/>
        </p:spPr>
        <p:txBody>
          <a:bodyPr wrap="square" anchor="t" lIns="36000" rIns="36000" tIns="36000" bIns="3600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20977"/>
                </a:solidFill>
              </a:rPr>
              <a:t>Тиражирование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20977"/>
                </a:solidFill>
              </a:rPr>
              <a:t>ЕДДС районов и другие регионы: меняются только справочники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r>
              <a:rPr sz="1600" b="1">
                <a:solidFill>
                  <a:srgbClr val="000000"/>
                </a:solidFill>
              </a:rPr>
              <a:t>Стенд: </a:t>
            </a:r>
            <a:r>
              <a:rPr sz="1600" b="0">
                <a:solidFill>
                  <a:srgbClr val="000000"/>
                </a:solidFill>
              </a:rPr>
              <a:t>адрес — в README; вход в любую роль одной кнопкой</a:t>
            </a:r>
            <a:endParaRPr lang="ru-RU" dirty="0">
              <a:solidFill>
                <a:schemeClr val="tx1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Репозиторий: </a:t>
            </a:r>
            <a:r>
              <a:rPr sz="1600" b="0">
                <a:solidFill>
                  <a:srgbClr val="000000"/>
                </a:solidFill>
              </a:rPr>
              <a:t>github.com/Fosh1er/MCHS_hack_AIskra — CI на каждое изменение</a:t>
            </a:r>
          </a:p>
          <a:p>
            <a:r>
              <a:rPr sz="1600" b="1">
                <a:solidFill>
                  <a:srgbClr val="000000"/>
                </a:solidFill>
              </a:rPr>
              <a:t>Пояснительная записка: </a:t>
            </a:r>
            <a:r>
              <a:rPr sz="1600" b="0">
                <a:solidFill>
                  <a:srgbClr val="000000"/>
                </a:solidFill>
              </a:rPr>
              <a:t>docs/delivery/out — DOCX и PDF</a:t>
            </a:r>
          </a:p>
          <a:p>
            <a:r>
              <a:rPr sz="1600" b="1">
                <a:solidFill>
                  <a:srgbClr val="000000"/>
                </a:solidFill>
              </a:rPr>
              <a:t>Техспека финала: </a:t>
            </a:r>
            <a:r>
              <a:rPr sz="1600" b="0">
                <a:solidFill>
                  <a:srgbClr val="000000"/>
                </a:solidFill>
              </a:rPr>
              <a:t>docs/brief/07_Бэклог_финала_техспека.md, specs/F1–F6</a:t>
            </a:r>
          </a:p>
          <a:p>
            <a:r>
              <a:rPr sz="1600" b="1">
                <a:solidFill>
                  <a:srgbClr val="000000"/>
                </a:solidFill>
              </a:rPr>
              <a:t>Руководства пользователя: </a:t>
            </a:r>
            <a:r>
              <a:rPr sz="1600" b="0">
                <a:solidFill>
                  <a:srgbClr val="000000"/>
                </a:solidFill>
              </a:rPr>
              <a:t>docs/manuals — преподаватель и обучающийся</a:t>
            </a:r>
          </a:p>
          <a:p>
            <a:r>
              <a:rPr sz="1600" b="1">
                <a:solidFill>
                  <a:srgbClr val="000000"/>
                </a:solidFill>
              </a:rPr>
              <a:t>Исследование и источники: </a:t>
            </a:r>
            <a:r>
              <a:rPr sz="1600" b="0">
                <a:solidFill>
                  <a:srgbClr val="000000"/>
                </a:solidFill>
              </a:rPr>
              <a:t>docs/research</a:t>
            </a:r>
          </a:p>
          <a:p>
            <a:r>
              <a:rPr sz="1600" b="1">
                <a:solidFill>
                  <a:srgbClr val="000000"/>
                </a:solidFill>
              </a:rPr>
              <a:t>Проверка: </a:t>
            </a:r>
            <a:r>
              <a:rPr sz="1600" b="0">
                <a:solidFill>
                  <a:srgbClr val="000000"/>
                </a:solidFill>
              </a:rPr>
              <a:t>e2e — backend/tests/e2e, чек-лист ручной проверки — docs/qa/bugbash.md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МАТЕРИАЛЫ РЕШЕНИЯ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r>
              <a:rPr sz="1600" b="1">
                <a:solidFill>
                  <a:srgbClr val="000000"/>
                </a:solidFill>
              </a:rPr>
              <a:t>Обязательные слайды шаблона ЛЦТ-2026 (7–11): </a:t>
            </a:r>
            <a:r>
              <a:rPr sz="1600" b="0">
                <a:solidFill>
                  <a:srgbClr val="000000"/>
                </a:solidFill>
              </a:rPr>
              <a:t>титул, о команде, состав, история, коротко о решении.</a:t>
            </a:r>
            <a:endParaRPr lang="ru-RU" dirty="0">
              <a:solidFill>
                <a:schemeClr val="tx1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На защите </a:t>
            </a:r>
            <a:r>
              <a:rPr sz="1600" b="0">
                <a:solidFill>
                  <a:srgbClr val="000000"/>
                </a:solidFill>
              </a:rPr>
              <a:t>пропускаются: их содержание раскрыто в основной части презентации.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ПРИЛОЖЕНИЕ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sz="4800" b="1"/>
              <a:t>AIskra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sz="1600"/>
              <a:t>Задача № 9 · ДГОЧСиПБ Москвы, ГБУ «Система 112»: ИИ-тренажёр операторов системы-112 и диспетчеров ДДС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540000"/>
            <a:ext cx="4680000" cy="71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Заявитель в стрессе по пособиям ЦЭПП МЧС: 15 профилей, состояние меняется от речи оператора, голос с эмоцией, отдельная оценка по профстандарту 12.002. Работает офлайн, в изолированном контуре.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Алексей Подколзин, DS / ML / AI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4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  <a:r>
              <a:rPr lang="ru-RU" i="0" dirty="0" b="0">
                <a:solidFill>
                  <a:schemeClr val="tx1"/>
                </a:solidFill>
              </a:rPr>
              <a:t>— вместе работали в Сбере: познакомились на работе и подали заявку на хакатон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место работы/учебы участников?</a:t>
            </a:r>
            <a:r>
              <a:rPr lang="ru-RU" i="0" dirty="0" b="0">
                <a:solidFill>
                  <a:schemeClr val="tx1"/>
                </a:solidFill>
              </a:rPr>
              <a:t> — СБЕР, ex-Сбер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  <a:r>
              <a:rPr lang="ru-RU" b="0" dirty="0" i="0">
                <a:solidFill>
                  <a:schemeClr val="tx1"/>
                </a:solidFill>
              </a:rPr>
              <a:t> Московский регион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2400" b="1">
                <a:solidFill>
                  <a:srgbClr val="520977"/>
                </a:solidFill>
              </a:rPr>
              <a:t>КОМАНДА «АИСКРА»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Учебная среда в точной копии АРМ-112 и АРМ ДДС. ИИ генерирует сценарии вместе с эталоном, играет заявителя и старшего группы, система сама оценивает карточку и работу ДДС, преподаватель ведёт занятия и видит аналитику.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DS / ML / AI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GitHub: ivnvs-Storage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СБЕР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Алексей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Иванов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DS / ML / AI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GitHub: zhamilka1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СБЕР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Жамиль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Якупов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DS / ML / AI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GitHub: damirai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СБЕР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Дамир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Хафизов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  <p:txBody>
          <a:bodyPr/>
          <a:p/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  <p:txBody>
          <a:bodyPr/>
          <a:p/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  <p:txBody>
          <a:bodyPr/>
          <a:p/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  <p:txBody>
          <a:bodyPr/>
          <a:p/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КОМАНДА «АИСКРА»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Капитан, DS / ML / AI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GitHub: Fosh1er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ex-Сбер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Алексей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Подколзин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ИСТОРИЯ КОМАНДЫ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Познакомились, работая в Сбере, и вместе подали заявку на ЛЦТ-2026. Работали по Spec Driven Development: ТЗ → спецификация → ADR → код и тесты → PR в main.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Изолированный контур без GPU: всё работает и без модели — по правилам, модель только добавляет живую речь. Интерфейс АРМ копировали по скриншотам заказчика, классификатор — 1281 тип.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ИИ-заявитель слишком быстро успокаивался. Вынесли его состояние в детерминированный движок и опёрли правила на пособия ЦЭПП МЧС.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Ошибка оператора 112 стоит минут и жизней, а учебных вызовов нет: вводные пишут вручную. Захотели тренажёр, где ИИ играет живого заявителя, а оценка объективна и опирается на нормативы.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Модульный монолит FastAPI + React, PostgreSQL, docker compose; REST API — 139 операций</a:t>
            </a:r>
          </a:p>
          <a:p>
            <a:r>
              <a:rPr lang="ru-RU" sz="1400" dirty="0">
                <a:solidFill>
                  <a:schemeClr val="tx1"/>
                </a:solidFill>
              </a:rPr>
              <a:t>ИИ за портами: любая OpenAI-совместимая модель (Ollama, vLLM) или офлайн-режим</a:t>
            </a:r>
          </a:p>
          <a:p>
            <a:r>
              <a:rPr lang="ru-RU" sz="1400" dirty="0">
                <a:solidFill>
                  <a:schemeClr val="tx1"/>
                </a:solidFill>
              </a:rPr>
              <a:t>Эталон карточки и ДДС — правилами из классификатора заказчика, модель пишет только речь</a:t>
            </a:r>
          </a:p>
          <a:p>
            <a:r>
              <a:rPr lang="ru-RU" sz="1400" dirty="0">
                <a:solidFill>
                  <a:schemeClr val="tx1"/>
                </a:solidFill>
              </a:rPr>
              <a:t>Автооценка по формулам с весами, ИИ-судья, бенчмарк ошибок для проверки достоверности</a:t>
            </a:r>
          </a:p>
          <a:p>
            <a:r>
              <a:rPr lang="ru-RU" sz="1400" dirty="0">
                <a:solidFill>
                  <a:schemeClr val="tx1"/>
                </a:solidFill>
              </a:rPr>
              <a:t>Заявитель в стрессе: 15 профилей, движок состояния по шкале ECCS, отдельный блок оценки</a:t>
            </a:r>
          </a:p>
          <a:p>
            <a:r>
              <a:rPr lang="ru-RU" sz="1400" dirty="0">
                <a:solidFill>
                  <a:schemeClr val="tx1"/>
                </a:solidFill>
              </a:rPr>
              <a:t>Голос: распознавание и синтез с эмоцией, ответ ИИ потоком, разговор без рук</a:t>
            </a:r>
          </a:p>
          <a:p>
            <a:r>
              <a:rPr lang="ru-RU" sz="1400" dirty="0">
                <a:solidFill>
                  <a:schemeClr val="tx1"/>
                </a:solidFill>
              </a:rPr>
              <a:t>548 автотестов и 10 e2e-сценариев в CI, mypy --strict, контроль границ модулей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Учебный центр ГБУ «Система 112»: практика без реальных вызовов и ПДн</a:t>
            </a:r>
          </a:p>
          <a:p>
            <a:r>
              <a:rPr lang="ru-RU" sz="1400" dirty="0">
                <a:solidFill>
                  <a:schemeClr val="tx1"/>
                </a:solidFill>
              </a:rPr>
              <a:t>Занятие — за 5 минут, отчёт, разбор и черновик отзыва — автоматически</a:t>
            </a:r>
          </a:p>
          <a:p>
            <a:r>
              <a:rPr lang="ru-RU" sz="1400" dirty="0">
                <a:solidFill>
                  <a:schemeClr val="tx1"/>
                </a:solidFill>
              </a:rPr>
              <a:t>Допуск к дежурству по шкале Программы подготовки ЕДДС, протокол для печати</a:t>
            </a:r>
          </a:p>
          <a:p>
            <a:r>
              <a:rPr lang="ru-RU" sz="1400" dirty="0">
                <a:solidFill>
                  <a:schemeClr val="tx1"/>
                </a:solidFill>
              </a:rPr>
              <a:t>Тиражирование: ЕДДС районов и другие регионы — меняются только справочники</a:t>
            </a:r>
          </a:p>
          <a:p>
            <a:r>
              <a:rPr lang="ru-RU" sz="1400" dirty="0">
                <a:solidFill>
                  <a:schemeClr val="tx1"/>
                </a:solidFill>
              </a:rPr>
              <a:t>Дальше: пилот в учебном центре, потоковый голос, поиск по учебным материалам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